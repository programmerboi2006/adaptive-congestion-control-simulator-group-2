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7482A-AAC0-40CC-80B0-5580F7F0BE0E}" v="3" dt="2026-10-22T20:04:03.5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98448"/>
            <a:ext cx="8046720" cy="27412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 dirty="0">
                <a:solidFill>
                  <a:srgbClr val="FFFFFF"/>
                </a:solidFill>
                <a:latin typeface="Aptos"/>
              </a:rPr>
              <a:t>ADAPTIVE CONGESTION-CONTROL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3200" b="1" i="0" dirty="0">
                <a:solidFill>
                  <a:srgbClr val="FFFFFF"/>
                </a:solidFill>
                <a:latin typeface="Aptos"/>
              </a:rPr>
              <a:t>SIMULATOR</a:t>
            </a:r>
            <a:r>
              <a:rPr lang="en-US" sz="32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IN" sz="3200" b="1" dirty="0">
                <a:solidFill>
                  <a:schemeClr val="bg1"/>
                </a:solidFill>
                <a:latin typeface="Aptos"/>
              </a:rPr>
              <a:t>AND PERFORMANCE ANALYZER</a:t>
            </a:r>
          </a:p>
          <a:p>
            <a:pPr algn="l">
              <a:spcAft>
                <a:spcPts val="800"/>
              </a:spcAft>
            </a:pPr>
            <a:endParaRPr sz="32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3529584"/>
            <a:ext cx="1005840" cy="54864"/>
          </a:xfrm>
          <a:prstGeom prst="rect">
            <a:avLst/>
          </a:prstGeom>
          <a:solidFill>
            <a:srgbClr val="D2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62179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FFFFFF"/>
                </a:solidFill>
                <a:latin typeface="Aptos"/>
              </a:rPr>
              <a:t>Computer Networks</a:t>
            </a:r>
            <a:r>
              <a:rPr lang="en-US" sz="1800" b="0" i="0" dirty="0">
                <a:solidFill>
                  <a:srgbClr val="FFFFFF"/>
                </a:solidFill>
                <a:latin typeface="Aptos"/>
              </a:rPr>
              <a:t> Laboratory</a:t>
            </a:r>
            <a:r>
              <a:rPr sz="1800" b="0" i="0" dirty="0">
                <a:solidFill>
                  <a:srgbClr val="FFFFFF"/>
                </a:solidFill>
                <a:latin typeface="Aptos"/>
              </a:rPr>
              <a:t>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42934"/>
            <a:ext cx="96012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 dirty="0">
                <a:solidFill>
                  <a:srgbClr val="C4CFDC"/>
                </a:solidFill>
                <a:latin typeface="Aptos"/>
              </a:rPr>
              <a:t>Presented by: </a:t>
            </a:r>
            <a:r>
              <a:rPr lang="en-US" sz="1400" dirty="0">
                <a:solidFill>
                  <a:srgbClr val="C4CFDC"/>
                </a:solidFill>
                <a:latin typeface="Aptos"/>
              </a:rPr>
              <a:t>Neel Rede, Arya Kale, Saumya Shah, Parth Agrawal</a:t>
            </a:r>
            <a:endParaRPr sz="1400" b="0" i="0" dirty="0">
              <a:solidFill>
                <a:srgbClr val="C4CFD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72742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58368" cy="50292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29768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01  /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72742"/>
                </a:solidFill>
                <a:latin typeface="Aptos"/>
              </a:rP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01952"/>
            <a:ext cx="6629400" cy="3977639"/>
          </a:xfrm>
          <a:prstGeom prst="rect">
            <a:avLst/>
          </a:prstGeom>
          <a:noFill/>
        </p:spPr>
        <p:txBody>
          <a:bodyPr wrap="square" lIns="54864" tIns="18288" rIns="36576" bIns="18288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2A3340"/>
                </a:solidFill>
                <a:latin typeface="Aptos"/>
              </a:rPr>
              <a:t>•  A Python and Streamlit application for running local congestion-control simulations.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A3340"/>
                </a:solidFill>
                <a:latin typeface="Aptos"/>
              </a:rPr>
              <a:t>•  Compares TCP Tahoe, TCP Reno, and AIMD under configurable network conditions.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A3340"/>
                </a:solidFill>
                <a:latin typeface="Aptos"/>
              </a:rPr>
              <a:t>•  Displays congestion-window behaviour, summary metrics, and comparison results.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A3340"/>
                </a:solidFill>
                <a:latin typeface="Aptos"/>
              </a:rPr>
              <a:t>•  Supports exporting simulation results and experiment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572768"/>
            <a:ext cx="3520440" cy="12344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1572768"/>
            <a:ext cx="64008" cy="1234440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1737360"/>
            <a:ext cx="3154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167128"/>
            <a:ext cx="315468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Make congestion-control behaviour easier to observe.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999232"/>
            <a:ext cx="3520440" cy="12344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2999232"/>
            <a:ext cx="64008" cy="1234440"/>
          </a:xfrm>
          <a:prstGeom prst="rect">
            <a:avLst/>
          </a:prstGeom>
          <a:solidFill>
            <a:srgbClr val="2E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3163824"/>
            <a:ext cx="3154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3593591"/>
            <a:ext cx="315468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Run controlled, repeatable experiments in a local simulator.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425696"/>
            <a:ext cx="3520440" cy="12344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18120" y="4425696"/>
            <a:ext cx="64008" cy="1234440"/>
          </a:xfrm>
          <a:prstGeom prst="rect">
            <a:avLst/>
          </a:prstGeom>
          <a:solidFill>
            <a:srgbClr val="D2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9288" y="4590288"/>
            <a:ext cx="3154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5020056"/>
            <a:ext cx="315468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Graphs, numerical metrics, validation checks, and exports.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72742"/>
                </a:solidFill>
                <a:latin typeface="Aptos"/>
              </a:rPr>
              <a:t>Networking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58368" cy="50292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29768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02  / 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74720" cy="18288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1828800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108960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A3340"/>
                </a:solidFill>
                <a:latin typeface="Aptos"/>
              </a:rPr>
              <a:t>Too much traffic can cause packet loss, delay, and reduced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8288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64008" cy="1828800"/>
          </a:xfrm>
          <a:prstGeom prst="rect">
            <a:avLst/>
          </a:prstGeom>
          <a:solidFill>
            <a:srgbClr val="2E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8191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Congestion window (cwnd)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108960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A3340"/>
                </a:solidFill>
                <a:latin typeface="Aptos"/>
              </a:rPr>
              <a:t>Limits how much unacknowledged data the sender can have in flight.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417320"/>
            <a:ext cx="3474720" cy="18288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10144" y="1417320"/>
            <a:ext cx="64008" cy="1828800"/>
          </a:xfrm>
          <a:prstGeom prst="rect">
            <a:avLst/>
          </a:prstGeom>
          <a:solidFill>
            <a:srgbClr val="D2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58191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Slow-start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011680"/>
            <a:ext cx="3108960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A3340"/>
                </a:solidFill>
                <a:latin typeface="Aptos"/>
              </a:rPr>
              <a:t>ssthresh helps determine when TCP changes its window-growth behaviour.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794760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72742"/>
                </a:solidFill>
                <a:latin typeface="Aptos"/>
              </a:rPr>
              <a:t>Algorithms in this project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315968"/>
            <a:ext cx="3474720" cy="141732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8" y="4315968"/>
            <a:ext cx="64008" cy="1417320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TCP Tahoe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910328"/>
            <a:ext cx="31089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3340"/>
                </a:solidFill>
                <a:latin typeface="Aptos"/>
              </a:rPr>
              <a:t>On detected congestion, reduces cwnd to 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4315968"/>
            <a:ext cx="3474720" cy="141732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4315968"/>
            <a:ext cx="64008" cy="1417320"/>
          </a:xfrm>
          <a:prstGeom prst="rect">
            <a:avLst/>
          </a:prstGeom>
          <a:solidFill>
            <a:srgbClr val="2E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4480559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TCP Reno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910328"/>
            <a:ext cx="31089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Can use fast recovery after duplicate ACKs; timeout behaviour also reduces the window.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4315968"/>
            <a:ext cx="3474720" cy="141732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10144" y="4315968"/>
            <a:ext cx="64008" cy="1417320"/>
          </a:xfrm>
          <a:prstGeom prst="rect">
            <a:avLst/>
          </a:prstGeom>
          <a:solidFill>
            <a:srgbClr val="D2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11312" y="4480559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AIMD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4910328"/>
            <a:ext cx="31089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3340"/>
                </a:solidFill>
                <a:latin typeface="Aptos"/>
              </a:rPr>
              <a:t>Additive Increase, Multiplicative Decrease.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72742"/>
                </a:solidFill>
                <a:latin typeface="Aptos"/>
              </a:rPr>
              <a:t>How the Simulator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58368" cy="50292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29768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03  /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468880" cy="233172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029968"/>
            <a:ext cx="502920" cy="502920"/>
          </a:xfrm>
          <a:prstGeom prst="ellipse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39696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72742"/>
                </a:solidFill>
                <a:latin typeface="Aptos"/>
              </a:rP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0574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Choose an algorithm and network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8892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188989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0168" y="1828800"/>
            <a:ext cx="2468880" cy="233172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813048" y="2029968"/>
            <a:ext cx="502920" cy="502920"/>
          </a:xfrm>
          <a:prstGeom prst="ellipse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13048" y="2139696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76148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72742"/>
                </a:solidFill>
                <a:latin typeface="Aptos"/>
              </a:rPr>
              <a:t>Simulate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3246120"/>
            <a:ext cx="20574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Advance through rounds; each round represents one RTT.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78892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18898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3096" y="1828800"/>
            <a:ext cx="2468880" cy="233172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65976" y="2029968"/>
            <a:ext cx="502920" cy="502920"/>
          </a:xfrm>
          <a:prstGeom prst="ellipse">
            <a:avLst/>
          </a:prstGeom>
          <a:solidFill>
            <a:srgbClr val="2E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65976" y="2139696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276148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72742"/>
                </a:solidFill>
                <a:latin typeface="Aptos"/>
              </a:rPr>
              <a:t>Model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3246120"/>
            <a:ext cx="20574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Packet loss is represented using a configurable probability.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78892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188989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6024" y="1828800"/>
            <a:ext cx="2468880" cy="233172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518903" y="2029968"/>
            <a:ext cx="502920" cy="502920"/>
          </a:xfrm>
          <a:prstGeom prst="ellipse">
            <a:avLst/>
          </a:prstGeom>
          <a:solidFill>
            <a:srgbClr val="2E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18903" y="2139696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8903" y="276148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72742"/>
                </a:solidFill>
                <a:latin typeface="Aptos"/>
              </a:rPr>
              <a:t>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3" y="3246120"/>
            <a:ext cx="20574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Inspect cwnd behaviour, results, and summary metrics.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74920"/>
            <a:ext cx="1024128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1700" b="1" i="0" dirty="0">
                <a:solidFill>
                  <a:srgbClr val="B54F4B"/>
                </a:solidFill>
                <a:latin typeface="Aptos"/>
              </a:rPr>
              <a:t>Note: this </a:t>
            </a:r>
            <a:r>
              <a:rPr sz="1700" b="1" i="0" dirty="0">
                <a:solidFill>
                  <a:srgbClr val="B54F4B"/>
                </a:solidFill>
                <a:latin typeface="Aptos"/>
              </a:rPr>
              <a:t>is a local model of network </a:t>
            </a:r>
            <a:r>
              <a:rPr sz="1700" b="1" i="0" dirty="0" err="1">
                <a:solidFill>
                  <a:srgbClr val="B54F4B"/>
                </a:solidFill>
                <a:latin typeface="Aptos"/>
              </a:rPr>
              <a:t>behaviour</a:t>
            </a:r>
            <a:r>
              <a:rPr sz="1700" b="1" i="0" dirty="0">
                <a:solidFill>
                  <a:srgbClr val="B54F4B"/>
                </a:solidFill>
                <a:latin typeface="Aptos"/>
              </a:rPr>
              <a:t>, not a real TCP connection.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72742"/>
                </a:solidFill>
                <a:latin typeface="Aptos"/>
              </a:rPr>
              <a:t>Experiment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58368" cy="50292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29768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04  / 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66751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72742"/>
                </a:solidFill>
                <a:latin typeface="Aptos"/>
              </a:rPr>
              <a:t>Example run used in the 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4983480" cy="566928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5D6B7A"/>
                </a:solidFill>
                <a:latin typeface="Aptos"/>
              </a:rPr>
              <a:t>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2066544"/>
            <a:ext cx="1600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TCP Reno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4983480" cy="566928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843784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5D6B7A"/>
                </a:solidFill>
                <a:latin typeface="Aptos"/>
              </a:rPr>
              <a:t>Packet-loss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2825496"/>
            <a:ext cx="1600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0.20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56432"/>
            <a:ext cx="4983480" cy="566928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602736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5D6B7A"/>
                </a:solidFill>
                <a:latin typeface="Aptos"/>
              </a:rPr>
              <a:t>Round-trip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3584448"/>
            <a:ext cx="1600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100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15383"/>
            <a:ext cx="4983480" cy="566928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6168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5D6B7A"/>
                </a:solidFill>
                <a:latin typeface="Aptos"/>
              </a:rPr>
              <a:t>Number of rounds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4343399"/>
            <a:ext cx="1600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938528"/>
            <a:ext cx="4983480" cy="566928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2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5D6B7A"/>
                </a:solidFill>
                <a:latin typeface="Aptos"/>
              </a:rPr>
              <a:t>Initial cwnd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066544"/>
            <a:ext cx="1600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97480"/>
            <a:ext cx="4983480" cy="566928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843784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5D6B7A"/>
                </a:solidFill>
                <a:latin typeface="Aptos"/>
              </a:rPr>
              <a:t>ssthresh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825496"/>
            <a:ext cx="1600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16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456432"/>
            <a:ext cx="4983480" cy="566928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602736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5D6B7A"/>
                </a:solidFill>
                <a:latin typeface="Aptos"/>
              </a:rPr>
              <a:t>Random seed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584448"/>
            <a:ext cx="1600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42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983480"/>
            <a:ext cx="4983480" cy="1053526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4983480"/>
            <a:ext cx="64008" cy="868680"/>
          </a:xfrm>
          <a:prstGeom prst="rect">
            <a:avLst/>
          </a:prstGeom>
          <a:solidFill>
            <a:srgbClr val="D2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5148072"/>
            <a:ext cx="4617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Reproducibility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5577840"/>
            <a:ext cx="4617720" cy="1554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A fixed random seed helps repeat the same experiment.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72742"/>
                </a:solidFill>
                <a:latin typeface="Aptos"/>
              </a:rPr>
              <a:t>Algorithms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58368" cy="50292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29768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05  / 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5D6B7A"/>
                </a:solidFill>
                <a:latin typeface="Aptos"/>
              </a:rPr>
              <a:t>The comparison uses the same experiment settings for each algorithm.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2011680" cy="566928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12264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Aspect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65960"/>
            <a:ext cx="2788920" cy="566928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2112264"/>
            <a:ext cx="2606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TCP Tahoe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965960"/>
            <a:ext cx="2788920" cy="566928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000" y="2112264"/>
            <a:ext cx="2606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TCP Reno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965960"/>
            <a:ext cx="2788920" cy="566928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2112264"/>
            <a:ext cx="2606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AIMD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532888"/>
            <a:ext cx="2011680" cy="850392"/>
          </a:xfrm>
          <a:prstGeom prst="rect">
            <a:avLst/>
          </a:prstGeom>
          <a:solidFill>
            <a:srgbClr val="EFF4F8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670048"/>
            <a:ext cx="179222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A3340"/>
                </a:solidFill>
                <a:latin typeface="Aptos"/>
              </a:rPr>
              <a:t>Window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532888"/>
            <a:ext cx="2788920" cy="850392"/>
          </a:xfrm>
          <a:prstGeom prst="rect">
            <a:avLst/>
          </a:prstGeom>
          <a:solidFill>
            <a:srgbClr val="EFF4F8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44368" y="2670048"/>
            <a:ext cx="2569463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Slow start, then avoidance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2532888"/>
            <a:ext cx="2788920" cy="850392"/>
          </a:xfrm>
          <a:prstGeom prst="rect">
            <a:avLst/>
          </a:prstGeom>
          <a:solidFill>
            <a:srgbClr val="EFF4F8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33288" y="2670048"/>
            <a:ext cx="2569463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Slow start, then avoidance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532888"/>
            <a:ext cx="2788920" cy="850392"/>
          </a:xfrm>
          <a:prstGeom prst="rect">
            <a:avLst/>
          </a:prstGeom>
          <a:solidFill>
            <a:srgbClr val="EFF4F8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22208" y="2670048"/>
            <a:ext cx="2569463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Additive increase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383280"/>
            <a:ext cx="2011680" cy="850392"/>
          </a:xfrm>
          <a:prstGeom prst="rect">
            <a:avLst/>
          </a:prstGeom>
          <a:solidFill>
            <a:srgbClr val="F9FBFC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520440"/>
            <a:ext cx="179222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A3340"/>
                </a:solidFill>
                <a:latin typeface="Aptos"/>
              </a:rPr>
              <a:t>On congestion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383280"/>
            <a:ext cx="2788920" cy="850392"/>
          </a:xfrm>
          <a:prstGeom prst="rect">
            <a:avLst/>
          </a:prstGeom>
          <a:solidFill>
            <a:srgbClr val="F9FBFC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44368" y="3520440"/>
            <a:ext cx="2569463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cwnd returns to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3383280"/>
            <a:ext cx="2788920" cy="850392"/>
          </a:xfrm>
          <a:prstGeom prst="rect">
            <a:avLst/>
          </a:prstGeom>
          <a:solidFill>
            <a:srgbClr val="F9FBFC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33288" y="3520440"/>
            <a:ext cx="2569463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Response depends on loss signal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3383280"/>
            <a:ext cx="2788920" cy="850392"/>
          </a:xfrm>
          <a:prstGeom prst="rect">
            <a:avLst/>
          </a:prstGeom>
          <a:solidFill>
            <a:srgbClr val="F9FBFC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22208" y="3520440"/>
            <a:ext cx="2569463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Multiplicative decrease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233672"/>
            <a:ext cx="2011680" cy="850392"/>
          </a:xfrm>
          <a:prstGeom prst="rect">
            <a:avLst/>
          </a:prstGeom>
          <a:solidFill>
            <a:srgbClr val="EFF4F8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4370832"/>
            <a:ext cx="179222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A3340"/>
                </a:solidFill>
                <a:latin typeface="Aptos"/>
              </a:rPr>
              <a:t>Focus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4233672"/>
            <a:ext cx="2788920" cy="850392"/>
          </a:xfrm>
          <a:prstGeom prst="rect">
            <a:avLst/>
          </a:prstGeom>
          <a:solidFill>
            <a:srgbClr val="EFF4F8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44368" y="4370832"/>
            <a:ext cx="2569463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Conservative recovery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4233672"/>
            <a:ext cx="2788920" cy="850392"/>
          </a:xfrm>
          <a:prstGeom prst="rect">
            <a:avLst/>
          </a:prstGeom>
          <a:solidFill>
            <a:srgbClr val="EFF4F8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33288" y="4370832"/>
            <a:ext cx="2569463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Fast recovery where applicable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4233672"/>
            <a:ext cx="2788920" cy="850392"/>
          </a:xfrm>
          <a:prstGeom prst="rect">
            <a:avLst/>
          </a:prstGeom>
          <a:solidFill>
            <a:srgbClr val="EFF4F8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22208" y="4370832"/>
            <a:ext cx="2569463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Simple AIMD behaviour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10241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1600" b="1" i="0" dirty="0">
                <a:solidFill>
                  <a:srgbClr val="188989"/>
                </a:solidFill>
                <a:latin typeface="Aptos"/>
              </a:rPr>
              <a:t>We u</a:t>
            </a:r>
            <a:r>
              <a:rPr sz="1600" b="1" i="0" dirty="0">
                <a:solidFill>
                  <a:srgbClr val="188989"/>
                </a:solidFill>
                <a:latin typeface="Aptos"/>
              </a:rPr>
              <a:t>se</a:t>
            </a:r>
            <a:r>
              <a:rPr lang="en-US" sz="1600" b="1" i="0" dirty="0">
                <a:solidFill>
                  <a:srgbClr val="188989"/>
                </a:solidFill>
                <a:latin typeface="Aptos"/>
              </a:rPr>
              <a:t>d</a:t>
            </a:r>
            <a:r>
              <a:rPr sz="1600" b="1" i="0" dirty="0">
                <a:solidFill>
                  <a:srgbClr val="188989"/>
                </a:solidFill>
                <a:latin typeface="Aptos"/>
              </a:rPr>
              <a:t> the app's comparison graph and results table to inspect the simulated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72742"/>
                </a:solidFill>
                <a:latin typeface="Aptos"/>
              </a:rPr>
              <a:t>Network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58368" cy="50292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29768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06  / 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074920" cy="20116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64008" cy="2011680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810512"/>
            <a:ext cx="47091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Scenario A — Zero packet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40280"/>
            <a:ext cx="4709159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A3340"/>
                </a:solidFill>
                <a:latin typeface="Aptos"/>
              </a:rPr>
              <a:t>Expected observation: no packet-loss-driven congestion events in the simulation.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074920" cy="20116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64008" cy="2011680"/>
          </a:xfrm>
          <a:prstGeom prst="rect">
            <a:avLst/>
          </a:prstGeom>
          <a:solidFill>
            <a:srgbClr val="D2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10512"/>
            <a:ext cx="47091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Scenario B — Higher packet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40280"/>
            <a:ext cx="4709159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A3340"/>
                </a:solidFill>
                <a:latin typeface="Aptos"/>
              </a:rPr>
              <a:t>Expected observation: loss-related congestion events may occur more often and reduce cwnd.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72742"/>
                </a:solidFill>
                <a:latin typeface="Aptos"/>
              </a:rPr>
              <a:t>What to 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9784080" cy="1371600"/>
          </a:xfrm>
          <a:prstGeom prst="rect">
            <a:avLst/>
          </a:prstGeom>
          <a:noFill/>
        </p:spPr>
        <p:txBody>
          <a:bodyPr wrap="square" lIns="54864" tIns="18288" rIns="36576" bIns="18288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2A3340"/>
                </a:solidFill>
                <a:latin typeface="Aptos"/>
              </a:rPr>
              <a:t>•  Number of congestion events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A3340"/>
                </a:solidFill>
                <a:latin typeface="Aptos"/>
              </a:rPr>
              <a:t>•  Changes in the congestion window over rounds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A3340"/>
                </a:solidFill>
                <a:latin typeface="Aptos"/>
              </a:rPr>
              <a:t>•  Throughput and packet-loss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72742"/>
                </a:solidFill>
                <a:latin typeface="Aptos"/>
              </a:rPr>
              <a:t>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58368" cy="50292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29768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07  / 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5074920" cy="11430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64008" cy="1143000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673351"/>
            <a:ext cx="47091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03120"/>
            <a:ext cx="47091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Rate of successfully acknowledged packets.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074920" cy="11430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64008" cy="1143000"/>
          </a:xfrm>
          <a:prstGeom prst="rect">
            <a:avLst/>
          </a:prstGeom>
          <a:solidFill>
            <a:srgbClr val="2E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673351"/>
            <a:ext cx="47091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Packet-loss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103120"/>
            <a:ext cx="47091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Proportion of transmitted packets that were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71800"/>
            <a:ext cx="5074920" cy="11430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2971800"/>
            <a:ext cx="64008" cy="1143000"/>
          </a:xfrm>
          <a:prstGeom prst="rect">
            <a:avLst/>
          </a:prstGeom>
          <a:solidFill>
            <a:srgbClr val="D2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136392"/>
            <a:ext cx="47091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Average cwnd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66160"/>
            <a:ext cx="47091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Average congestion-window size over the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71800"/>
            <a:ext cx="5074920" cy="114300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971800"/>
            <a:ext cx="64008" cy="1143000"/>
          </a:xfrm>
          <a:prstGeom prst="rect">
            <a:avLst/>
          </a:prstGeom>
          <a:solidFill>
            <a:srgbClr val="B5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136392"/>
            <a:ext cx="47091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Congestion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566160"/>
            <a:ext cx="47091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Count of modelled congestion responses.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4526279"/>
            <a:ext cx="5074920" cy="1294417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547872" y="4526280"/>
            <a:ext cx="64008" cy="1143000"/>
          </a:xfrm>
          <a:prstGeom prst="rect">
            <a:avLst/>
          </a:prstGeom>
          <a:solidFill>
            <a:srgbClr val="3A8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49039" y="4690872"/>
            <a:ext cx="47091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Estimated recovery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120640"/>
            <a:ext cx="47091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3340"/>
                </a:solidFill>
                <a:latin typeface="Aptos"/>
              </a:rPr>
              <a:t>A heuristic estimate, not a measured real-network recovery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72742"/>
                </a:solidFill>
                <a:latin typeface="Aptos"/>
              </a:rPr>
              <a:t>Testing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58368" cy="50292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29768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08  / 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5D6B7A"/>
                </a:solidFill>
                <a:latin typeface="Aptos"/>
              </a:rPr>
              <a:t>The validation page checks expected behaviour and output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246120" cy="12344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64008" cy="1234440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21992"/>
            <a:ext cx="2880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Reproducibility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51760"/>
            <a:ext cx="288036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Same seed supports repeatable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57400"/>
            <a:ext cx="3246120" cy="12344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057400"/>
            <a:ext cx="64008" cy="1234440"/>
          </a:xfrm>
          <a:prstGeom prst="rect">
            <a:avLst/>
          </a:prstGeom>
          <a:solidFill>
            <a:srgbClr val="2E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2221992"/>
            <a:ext cx="2880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Simulation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651760"/>
            <a:ext cx="288036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Expected round and result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57400"/>
            <a:ext cx="3246120" cy="12344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057400"/>
            <a:ext cx="64008" cy="1234440"/>
          </a:xfrm>
          <a:prstGeom prst="rect">
            <a:avLst/>
          </a:prstGeom>
          <a:solidFill>
            <a:srgbClr val="D2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221992"/>
            <a:ext cx="2880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Edge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651760"/>
            <a:ext cx="288036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Zero-loss and complete-loss scenarios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57600"/>
            <a:ext cx="3246120" cy="12344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657600"/>
            <a:ext cx="64008" cy="1234440"/>
          </a:xfrm>
          <a:prstGeom prst="rect">
            <a:avLst/>
          </a:prstGeom>
          <a:solidFill>
            <a:srgbClr val="B5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3822191"/>
            <a:ext cx="2880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Algorithm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251960"/>
            <a:ext cx="288036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Congestion response differs by algorithm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657600"/>
            <a:ext cx="3246120" cy="12344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657600"/>
            <a:ext cx="64008" cy="1234440"/>
          </a:xfrm>
          <a:prstGeom prst="rect">
            <a:avLst/>
          </a:prstGeom>
          <a:solidFill>
            <a:srgbClr val="3A8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1728" y="3822191"/>
            <a:ext cx="2880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Input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251960"/>
            <a:ext cx="288036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Invalid parameter values are checked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657600"/>
            <a:ext cx="3246120" cy="123444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3657600"/>
            <a:ext cx="64008" cy="1234440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8" y="3822191"/>
            <a:ext cx="2880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Exports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251960"/>
            <a:ext cx="288036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3340"/>
                </a:solidFill>
                <a:latin typeface="Aptos"/>
              </a:rPr>
              <a:t>CSV results and JSON configuration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72742"/>
                </a:solidFill>
                <a:latin typeface="Aptos"/>
              </a:rPr>
              <a:t>Results and Exports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58368" cy="50292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29768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09  / 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74920" cy="1874519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64008" cy="1874519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19072"/>
            <a:ext cx="47091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CSV — Simulation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48840"/>
            <a:ext cx="4709159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A3340"/>
                </a:solidFill>
                <a:latin typeface="Aptos"/>
              </a:rPr>
              <a:t>Stores tabular run data for further inspection or use in a spreadsheet.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074920" cy="1874519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64008" cy="1874519"/>
          </a:xfrm>
          <a:prstGeom prst="rect">
            <a:avLst/>
          </a:prstGeom>
          <a:solidFill>
            <a:srgbClr val="2E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719072"/>
            <a:ext cx="47091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72742"/>
                </a:solidFill>
                <a:latin typeface="Aptos"/>
              </a:rPr>
              <a:t>JSON — Experiment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148840"/>
            <a:ext cx="4709159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A3340"/>
                </a:solidFill>
                <a:latin typeface="Aptos"/>
              </a:rPr>
              <a:t>Stores settings so the experiment setup can be retained and reused.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72742"/>
                </a:solidFill>
                <a:latin typeface="Aptos"/>
              </a:rPr>
              <a:t>Typical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572000"/>
            <a:ext cx="2331720" cy="8686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7" y="4800600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72742"/>
                </a:solidFill>
                <a:latin typeface="Aptos"/>
              </a:rPr>
              <a:t>Configure experiment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4791456"/>
            <a:ext cx="29260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18898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572000"/>
            <a:ext cx="2331720" cy="8686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67328" y="4800600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72742"/>
                </a:solidFill>
                <a:latin typeface="Aptos"/>
              </a:rPr>
              <a:t>Run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4791456"/>
            <a:ext cx="29260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188989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572000"/>
            <a:ext cx="2331720" cy="8686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4800600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72742"/>
                </a:solidFill>
                <a:latin typeface="Aptos"/>
              </a:rPr>
              <a:t>Inspect graph and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4791456"/>
            <a:ext cx="29260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188989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39" y="4572000"/>
            <a:ext cx="2331720" cy="86868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45167" y="4800600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72742"/>
                </a:solidFill>
                <a:latin typeface="Aptos"/>
              </a:rPr>
              <a:t>Export data/configuration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72742"/>
                </a:solidFill>
                <a:latin typeface="Aptos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58368" cy="50292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29768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10  / 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5D6B7A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058400" cy="4023360"/>
          </a:xfrm>
          <a:prstGeom prst="rect">
            <a:avLst/>
          </a:prstGeom>
          <a:noFill/>
        </p:spPr>
        <p:txBody>
          <a:bodyPr wrap="square" lIns="54864" tIns="18288" rIns="36576" bIns="18288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2A3340"/>
                </a:solidFill>
                <a:latin typeface="Aptos"/>
              </a:rPr>
              <a:t>•  This project is a simulator; it does not send real network packets.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A3340"/>
                </a:solidFill>
                <a:latin typeface="Aptos"/>
              </a:rPr>
              <a:t>•  Each simulation round represents one RTT; behaviour is modelled locally.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A3340"/>
                </a:solidFill>
                <a:latin typeface="Aptos"/>
              </a:rPr>
              <a:t>•  Loss response is simplified and does not reproduce every detail of a real TCP stack.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A3340"/>
                </a:solidFill>
                <a:latin typeface="Aptos"/>
              </a:rPr>
              <a:t>•  Recovery time is an estimate based on the model, not a real measured value.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A3340"/>
                </a:solidFill>
                <a:latin typeface="Aptos"/>
              </a:rPr>
              <a:t>•  Results depend on the configured parameters and assumptions.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5943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1572768"/>
            <a:ext cx="777240" cy="54864"/>
          </a:xfrm>
          <a:prstGeom prst="rect">
            <a:avLst/>
          </a:prstGeom>
          <a:solidFill>
            <a:srgbClr val="D2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7772400" cy="2971800"/>
          </a:xfrm>
          <a:prstGeom prst="rect">
            <a:avLst/>
          </a:prstGeom>
          <a:noFill/>
        </p:spPr>
        <p:txBody>
          <a:bodyPr wrap="square" lIns="54864" tIns="18288" rIns="36576" bIns="18288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•  Simulates TCP Tahoe, TCP Reno, and AIMD.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•  Allows controlled experiments under different loss conditions.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•  Visualizes congestion-window behaviour and key metrics.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•  Includes validation checks and CSV/JSON exports.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5349240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500" b="1" i="0">
                <a:solidFill>
                  <a:srgbClr val="93D7D3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746</Words>
  <Application>Microsoft Office PowerPoint</Application>
  <PresentationFormat>Widescreen</PresentationFormat>
  <Paragraphs>163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Neel Rede</dc:creator>
  <cp:keywords/>
  <dc:description>generated using python-pptx</dc:description>
  <cp:lastModifiedBy>Neel Rede</cp:lastModifiedBy>
  <cp:revision>3</cp:revision>
  <dcterms:created xsi:type="dcterms:W3CDTF">2013-01-27T09:14:16Z</dcterms:created>
  <dcterms:modified xsi:type="dcterms:W3CDTF">2026-10-22T20:04:03Z</dcterms:modified>
  <cp:category/>
</cp:coreProperties>
</file>